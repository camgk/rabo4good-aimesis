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Google Sans SemiBold"/>
      <p:regular r:id="rId11"/>
      <p:bold r:id="rId12"/>
      <p:italic r:id="rId13"/>
      <p:boldItalic r:id="rId14"/>
    </p:embeddedFont>
    <p:embeddedFont>
      <p:font typeface="Google Sans"/>
      <p:bold r:id="rId15"/>
      <p:boldItalic r:id="rId16"/>
    </p:embeddedFont>
    <p:embeddedFont>
      <p:font typeface="Google Sans Medium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Medium-boldItalic.fntdata"/><Relationship Id="rId11" Type="http://schemas.openxmlformats.org/officeDocument/2006/relationships/font" Target="fonts/GoogleSansSemiBold-regular.fntdata"/><Relationship Id="rId10" Type="http://schemas.openxmlformats.org/officeDocument/2006/relationships/slide" Target="slides/slide5.xml"/><Relationship Id="rId13" Type="http://schemas.openxmlformats.org/officeDocument/2006/relationships/font" Target="fonts/GoogleSansSemiBold-italic.fntdata"/><Relationship Id="rId12" Type="http://schemas.openxmlformats.org/officeDocument/2006/relationships/font" Target="fonts/GoogleSans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-bold.fntdata"/><Relationship Id="rId14" Type="http://schemas.openxmlformats.org/officeDocument/2006/relationships/font" Target="fonts/GoogleSansSemiBold-boldItalic.fntdata"/><Relationship Id="rId17" Type="http://schemas.openxmlformats.org/officeDocument/2006/relationships/font" Target="fonts/GoogleSansMedium-regular.fntdata"/><Relationship Id="rId16" Type="http://schemas.openxmlformats.org/officeDocument/2006/relationships/font" Target="fonts/GoogleSa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oogleSansMedium-italic.fntdata"/><Relationship Id="rId6" Type="http://schemas.openxmlformats.org/officeDocument/2006/relationships/slide" Target="slides/slide1.xml"/><Relationship Id="rId18" Type="http://schemas.openxmlformats.org/officeDocument/2006/relationships/font" Target="fonts/GoogleSans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6002e83a5c272dc0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6002e83a5c272dc0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6002e83a5c272dc0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6002e83a5c272dc0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6002e83a5c272dc0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6002e83a5c272dc0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6002e83a5c272dc0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h6002e83a5c272dc0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6002e83a5c272dc0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6002e83a5c272dc0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6002e83a5c272dc0_9_0)">
  <p:cSld name="Generated (h6002e83a5c272dc0_9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7300"/>
            <a:chOff x="0" y="0"/>
            <a:chExt cx="9144000" cy="573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2286000" cy="57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2286000" y="0"/>
              <a:ext cx="2286000" cy="57300"/>
            </a:xfrm>
            <a:prstGeom prst="rect">
              <a:avLst/>
            </a:prstGeom>
            <a:solidFill>
              <a:srgbClr val="A6081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4572000" y="0"/>
              <a:ext cx="2286000" cy="57300"/>
            </a:xfrm>
            <a:prstGeom prst="rect">
              <a:avLst/>
            </a:prstGeom>
            <a:solidFill>
              <a:srgbClr val="B06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6858000" y="0"/>
              <a:ext cx="2286000" cy="57300"/>
            </a:xfrm>
            <a:prstGeom prst="rect">
              <a:avLst/>
            </a:prstGeom>
            <a:solidFill>
              <a:srgbClr val="137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5733900" y="237975"/>
            <a:ext cx="2952900" cy="228600"/>
            <a:chOff x="0" y="0"/>
            <a:chExt cx="2952900" cy="2286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2952900" cy="228600"/>
            </a:xfrm>
            <a:prstGeom prst="roundRect">
              <a:avLst>
                <a:gd fmla="val 50000" name="adj"/>
              </a:avLst>
            </a:prstGeom>
            <a:solidFill>
              <a:srgbClr val="E1F5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0" y="0"/>
              <a:ext cx="295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285F4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Hackathon Specification • Pediatric Oncology Track</a:t>
              </a:r>
              <a:endParaRPr b="0" sz="925">
                <a:solidFill>
                  <a:srgbClr val="4285F4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</p:grpSp>
      <p:sp>
        <p:nvSpPr>
          <p:cNvPr id="63" name="Google Shape;63;p14"/>
          <p:cNvSpPr txBox="1"/>
          <p:nvPr/>
        </p:nvSpPr>
        <p:spPr>
          <a:xfrm>
            <a:off x="457200" y="533400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Problem &amp; Vision</a:t>
            </a:r>
            <a:endParaRPr b="1" sz="26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57200" y="933450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99999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The friction of manual CINV calculation and the clinical burden on children</a:t>
            </a:r>
            <a:endParaRPr b="0" sz="1400">
              <a:solidFill>
                <a:srgbClr val="99999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457200" y="1333500"/>
            <a:ext cx="2590800" cy="3238500"/>
            <a:chOff x="0" y="0"/>
            <a:chExt cx="2590800" cy="3238500"/>
          </a:xfrm>
        </p:grpSpPr>
        <p:sp>
          <p:nvSpPr>
            <p:cNvPr id="66" name="Google Shape;66;p14"/>
            <p:cNvSpPr/>
            <p:nvPr/>
          </p:nvSpPr>
          <p:spPr>
            <a:xfrm>
              <a:off x="0" y="0"/>
              <a:ext cx="2590800" cy="3238500"/>
            </a:xfrm>
            <a:prstGeom prst="roundRect">
              <a:avLst>
                <a:gd fmla="val 4411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190500" y="228600"/>
              <a:ext cx="22098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Clinical Burden on Children</a:t>
              </a:r>
              <a:endParaRPr b="0" sz="1500">
                <a:solidFill>
                  <a:srgbClr val="43434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Chemotherapy-induced nausea and vomiting (CINV) causes severe dehydration, malnutrition, acute trauma, and delayed curative cycles across acute (0-24h), late (24-120h), and anticipatory phases.</a:t>
              </a:r>
              <a:endParaRPr b="0" sz="1100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grpSp>
          <p:nvGrpSpPr>
            <p:cNvPr id="68" name="Google Shape;68;p14"/>
            <p:cNvGrpSpPr/>
            <p:nvPr/>
          </p:nvGrpSpPr>
          <p:grpSpPr>
            <a:xfrm>
              <a:off x="190500" y="2743200"/>
              <a:ext cx="1428900" cy="247800"/>
              <a:chOff x="0" y="0"/>
              <a:chExt cx="1428900" cy="247800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0" y="0"/>
                <a:ext cx="14289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FCE8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4"/>
              <p:cNvSpPr txBox="1"/>
              <p:nvPr/>
            </p:nvSpPr>
            <p:spPr>
              <a:xfrm>
                <a:off x="0" y="0"/>
                <a:ext cx="14289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A60812"/>
                    </a:solidFill>
                    <a:latin typeface="Google Sans SemiBold"/>
                    <a:ea typeface="Google Sans SemiBold"/>
                    <a:cs typeface="Google Sans SemiBold"/>
                    <a:sym typeface="Google Sans SemiBold"/>
                  </a:rPr>
                  <a:t>Pediatric Vulnerability</a:t>
                </a:r>
                <a:endParaRPr b="0" sz="950">
                  <a:solidFill>
                    <a:srgbClr val="A60812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endParaRPr>
              </a:p>
            </p:txBody>
          </p:sp>
        </p:grpSp>
      </p:grpSp>
      <p:grpSp>
        <p:nvGrpSpPr>
          <p:cNvPr id="71" name="Google Shape;71;p14"/>
          <p:cNvGrpSpPr/>
          <p:nvPr/>
        </p:nvGrpSpPr>
        <p:grpSpPr>
          <a:xfrm>
            <a:off x="3276600" y="1333500"/>
            <a:ext cx="2590800" cy="3238500"/>
            <a:chOff x="0" y="0"/>
            <a:chExt cx="2590800" cy="3238500"/>
          </a:xfrm>
        </p:grpSpPr>
        <p:sp>
          <p:nvSpPr>
            <p:cNvPr id="72" name="Google Shape;72;p14"/>
            <p:cNvSpPr/>
            <p:nvPr/>
          </p:nvSpPr>
          <p:spPr>
            <a:xfrm>
              <a:off x="0" y="0"/>
              <a:ext cx="2590800" cy="3238500"/>
            </a:xfrm>
            <a:prstGeom prst="roundRect">
              <a:avLst>
                <a:gd fmla="val 4411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190500" y="228600"/>
              <a:ext cx="22098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Friction of Manual Protocols</a:t>
              </a:r>
              <a:endParaRPr b="0" sz="1500">
                <a:solidFill>
                  <a:srgbClr val="43434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Oncologists and pharmacists must manually calculate Body Surface Area (BSA in m²) dosages, evaluate multi-drug emetic risks, and cross-reference static PDF hospital guidelines under extreme time pressure.</a:t>
              </a:r>
              <a:endParaRPr b="0" sz="1100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grpSp>
          <p:nvGrpSpPr>
            <p:cNvPr id="74" name="Google Shape;74;p14"/>
            <p:cNvGrpSpPr/>
            <p:nvPr/>
          </p:nvGrpSpPr>
          <p:grpSpPr>
            <a:xfrm>
              <a:off x="190500" y="2743200"/>
              <a:ext cx="1619100" cy="247800"/>
              <a:chOff x="0" y="0"/>
              <a:chExt cx="1619100" cy="247800"/>
            </a:xfrm>
          </p:grpSpPr>
          <p:sp>
            <p:nvSpPr>
              <p:cNvPr id="75" name="Google Shape;75;p14"/>
              <p:cNvSpPr/>
              <p:nvPr/>
            </p:nvSpPr>
            <p:spPr>
              <a:xfrm>
                <a:off x="0" y="0"/>
                <a:ext cx="16191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FFF7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4"/>
              <p:cNvSpPr txBox="1"/>
              <p:nvPr/>
            </p:nvSpPr>
            <p:spPr>
              <a:xfrm>
                <a:off x="0" y="0"/>
                <a:ext cx="16191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B06000"/>
                    </a:solidFill>
                    <a:latin typeface="Google Sans SemiBold"/>
                    <a:ea typeface="Google Sans SemiBold"/>
                    <a:cs typeface="Google Sans SemiBold"/>
                    <a:sym typeface="Google Sans SemiBold"/>
                  </a:rPr>
                  <a:t>Cognitive Load &amp; DDI Risk</a:t>
                </a:r>
                <a:endParaRPr b="0" sz="950">
                  <a:solidFill>
                    <a:srgbClr val="B06000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endParaRPr>
              </a:p>
            </p:txBody>
          </p:sp>
        </p:grpSp>
      </p:grpSp>
      <p:grpSp>
        <p:nvGrpSpPr>
          <p:cNvPr id="77" name="Google Shape;77;p14"/>
          <p:cNvGrpSpPr/>
          <p:nvPr/>
        </p:nvGrpSpPr>
        <p:grpSpPr>
          <a:xfrm>
            <a:off x="6096000" y="1333500"/>
            <a:ext cx="2590800" cy="3238500"/>
            <a:chOff x="0" y="0"/>
            <a:chExt cx="2590800" cy="3238500"/>
          </a:xfrm>
        </p:grpSpPr>
        <p:sp>
          <p:nvSpPr>
            <p:cNvPr id="78" name="Google Shape;78;p14"/>
            <p:cNvSpPr/>
            <p:nvPr/>
          </p:nvSpPr>
          <p:spPr>
            <a:xfrm>
              <a:off x="0" y="0"/>
              <a:ext cx="2590800" cy="3238500"/>
            </a:xfrm>
            <a:prstGeom prst="roundRect">
              <a:avLst>
                <a:gd fmla="val 4411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 txBox="1"/>
            <p:nvPr/>
          </p:nvSpPr>
          <p:spPr>
            <a:xfrm>
              <a:off x="190500" y="228600"/>
              <a:ext cx="22098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The Hackathon Vision</a:t>
              </a:r>
              <a:endParaRPr b="0" sz="1500">
                <a:solidFill>
                  <a:srgbClr val="43434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Transform static hospital CINV guidelines into an intelligent clinical decision support system (CDSS) that automates risk stratification, enforces zero-hallucination dosing, and screens for toxic drug collisions.</a:t>
              </a:r>
              <a:endParaRPr b="0" sz="1100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grpSp>
          <p:nvGrpSpPr>
            <p:cNvPr id="80" name="Google Shape;80;p14"/>
            <p:cNvGrpSpPr/>
            <p:nvPr/>
          </p:nvGrpSpPr>
          <p:grpSpPr>
            <a:xfrm>
              <a:off x="190500" y="2743200"/>
              <a:ext cx="1714500" cy="247800"/>
              <a:chOff x="0" y="0"/>
              <a:chExt cx="1714500" cy="247800"/>
            </a:xfrm>
          </p:grpSpPr>
          <p:sp>
            <p:nvSpPr>
              <p:cNvPr id="81" name="Google Shape;81;p14"/>
              <p:cNvSpPr/>
              <p:nvPr/>
            </p:nvSpPr>
            <p:spPr>
              <a:xfrm>
                <a:off x="0" y="0"/>
                <a:ext cx="17145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E1F5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4"/>
              <p:cNvSpPr txBox="1"/>
              <p:nvPr/>
            </p:nvSpPr>
            <p:spPr>
              <a:xfrm>
                <a:off x="0" y="0"/>
                <a:ext cx="17145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1A73E8"/>
                    </a:solidFill>
                    <a:latin typeface="Google Sans SemiBold"/>
                    <a:ea typeface="Google Sans SemiBold"/>
                    <a:cs typeface="Google Sans SemiBold"/>
                    <a:sym typeface="Google Sans SemiBold"/>
                  </a:rPr>
                  <a:t>Proactive Clinical AI Partner</a:t>
                </a:r>
                <a:endParaRPr b="0" sz="950">
                  <a:solidFill>
                    <a:srgbClr val="1A73E8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endParaRPr>
              </a:p>
            </p:txBody>
          </p:sp>
        </p:grpSp>
      </p:grpSp>
      <p:sp>
        <p:nvSpPr>
          <p:cNvPr id="83" name="Google Shape;83;p14"/>
          <p:cNvSpPr txBox="1"/>
          <p:nvPr/>
        </p:nvSpPr>
        <p:spPr>
          <a:xfrm>
            <a:off x="457200" y="47244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999999"/>
                </a:solidFill>
                <a:latin typeface="Google Sans"/>
                <a:ea typeface="Google Sans"/>
                <a:cs typeface="Google Sans"/>
                <a:sym typeface="Google Sans"/>
              </a:rPr>
              <a:t>Dedicated in-hospital CDSS for clinical care teams (oncologists, oncology nurses, clinical pharmacists).</a:t>
            </a:r>
            <a:endParaRPr b="0" sz="1000">
              <a:solidFill>
                <a:srgbClr val="99999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84" name="Google Shape;84;p14"/>
          <p:cNvGrpSpPr/>
          <p:nvPr/>
        </p:nvGrpSpPr>
        <p:grpSpPr>
          <a:xfrm>
            <a:off x="457200" y="152400"/>
            <a:ext cx="1771800" cy="304950"/>
            <a:chOff x="0" y="0"/>
            <a:chExt cx="1771800" cy="304950"/>
          </a:xfrm>
        </p:grpSpPr>
        <p:sp>
          <p:nvSpPr>
            <p:cNvPr id="85" name="Google Shape;85;p14"/>
            <p:cNvSpPr/>
            <p:nvPr/>
          </p:nvSpPr>
          <p:spPr>
            <a:xfrm>
              <a:off x="0" y="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45000" y="0"/>
                  </a:moveTo>
                  <a:lnTo>
                    <a:pt x="75000" y="0"/>
                  </a:lnTo>
                  <a:lnTo>
                    <a:pt x="75000" y="45000"/>
                  </a:lnTo>
                  <a:lnTo>
                    <a:pt x="120000" y="45000"/>
                  </a:lnTo>
                  <a:lnTo>
                    <a:pt x="120000" y="75000"/>
                  </a:lnTo>
                  <a:lnTo>
                    <a:pt x="75000" y="75000"/>
                  </a:lnTo>
                  <a:lnTo>
                    <a:pt x="75000" y="120000"/>
                  </a:lnTo>
                  <a:lnTo>
                    <a:pt x="45000" y="120000"/>
                  </a:lnTo>
                  <a:lnTo>
                    <a:pt x="45000" y="75000"/>
                  </a:lnTo>
                  <a:lnTo>
                    <a:pt x="0" y="75000"/>
                  </a:lnTo>
                  <a:lnTo>
                    <a:pt x="0" y="45000"/>
                  </a:lnTo>
                  <a:lnTo>
                    <a:pt x="45000" y="4500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114300" y="114300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 txBox="1"/>
            <p:nvPr/>
          </p:nvSpPr>
          <p:spPr>
            <a:xfrm>
              <a:off x="342900" y="190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4343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AImesis</a:t>
              </a:r>
              <a:endParaRPr b="1" sz="16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5"/>
          <p:cNvGrpSpPr/>
          <p:nvPr/>
        </p:nvGrpSpPr>
        <p:grpSpPr>
          <a:xfrm>
            <a:off x="0" y="0"/>
            <a:ext cx="9144000" cy="57300"/>
            <a:chOff x="0" y="0"/>
            <a:chExt cx="9144000" cy="57300"/>
          </a:xfrm>
        </p:grpSpPr>
        <p:sp>
          <p:nvSpPr>
            <p:cNvPr id="93" name="Google Shape;93;p15"/>
            <p:cNvSpPr/>
            <p:nvPr/>
          </p:nvSpPr>
          <p:spPr>
            <a:xfrm>
              <a:off x="0" y="0"/>
              <a:ext cx="2286000" cy="57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2286000" y="0"/>
              <a:ext cx="2286000" cy="57300"/>
            </a:xfrm>
            <a:prstGeom prst="rect">
              <a:avLst/>
            </a:prstGeom>
            <a:solidFill>
              <a:srgbClr val="A6081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4572000" y="0"/>
              <a:ext cx="2286000" cy="57300"/>
            </a:xfrm>
            <a:prstGeom prst="rect">
              <a:avLst/>
            </a:prstGeom>
            <a:solidFill>
              <a:srgbClr val="B06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6858000" y="0"/>
              <a:ext cx="2286000" cy="57300"/>
            </a:xfrm>
            <a:prstGeom prst="rect">
              <a:avLst/>
            </a:prstGeom>
            <a:solidFill>
              <a:srgbClr val="137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" name="Google Shape;97;p15"/>
          <p:cNvGrpSpPr/>
          <p:nvPr/>
        </p:nvGrpSpPr>
        <p:grpSpPr>
          <a:xfrm>
            <a:off x="457200" y="152400"/>
            <a:ext cx="1771800" cy="304950"/>
            <a:chOff x="0" y="0"/>
            <a:chExt cx="1771800" cy="304950"/>
          </a:xfrm>
        </p:grpSpPr>
        <p:sp>
          <p:nvSpPr>
            <p:cNvPr id="98" name="Google Shape;98;p15"/>
            <p:cNvSpPr/>
            <p:nvPr/>
          </p:nvSpPr>
          <p:spPr>
            <a:xfrm>
              <a:off x="0" y="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45000" y="0"/>
                  </a:moveTo>
                  <a:lnTo>
                    <a:pt x="75000" y="0"/>
                  </a:lnTo>
                  <a:lnTo>
                    <a:pt x="75000" y="45000"/>
                  </a:lnTo>
                  <a:lnTo>
                    <a:pt x="120000" y="45000"/>
                  </a:lnTo>
                  <a:lnTo>
                    <a:pt x="120000" y="75000"/>
                  </a:lnTo>
                  <a:lnTo>
                    <a:pt x="75000" y="75000"/>
                  </a:lnTo>
                  <a:lnTo>
                    <a:pt x="75000" y="120000"/>
                  </a:lnTo>
                  <a:lnTo>
                    <a:pt x="45000" y="120000"/>
                  </a:lnTo>
                  <a:lnTo>
                    <a:pt x="45000" y="75000"/>
                  </a:lnTo>
                  <a:lnTo>
                    <a:pt x="0" y="75000"/>
                  </a:lnTo>
                  <a:lnTo>
                    <a:pt x="0" y="45000"/>
                  </a:lnTo>
                  <a:lnTo>
                    <a:pt x="45000" y="4500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114300" y="114300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342900" y="190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4343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AImesis</a:t>
              </a:r>
              <a:endParaRPr b="1" sz="16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101" name="Google Shape;101;p15"/>
          <p:cNvSpPr/>
          <p:nvPr/>
        </p:nvSpPr>
        <p:spPr>
          <a:xfrm>
            <a:off x="6019800" y="200025"/>
            <a:ext cx="2667000" cy="209700"/>
          </a:xfrm>
          <a:prstGeom prst="roundRect">
            <a:avLst>
              <a:gd fmla="val 50000" name="adj"/>
            </a:avLst>
          </a:prstGeom>
          <a:solidFill>
            <a:srgbClr val="E1F5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019800" y="200025"/>
            <a:ext cx="2667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0277BD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Hospital Protocol Baseline • July 2026 Versie 2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457200" y="4572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Grounding Baseline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457200" y="762000"/>
            <a:ext cx="8229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99999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Introducing the hospital's July 2026 Anti-emetica beleid CINV policy (HEC, MEC, LEC, Minimal tiers)</a:t>
            </a:r>
            <a:endParaRPr/>
          </a:p>
        </p:txBody>
      </p:sp>
      <p:grpSp>
        <p:nvGrpSpPr>
          <p:cNvPr id="105" name="Google Shape;105;p15"/>
          <p:cNvGrpSpPr/>
          <p:nvPr/>
        </p:nvGrpSpPr>
        <p:grpSpPr>
          <a:xfrm>
            <a:off x="457200" y="1028700"/>
            <a:ext cx="8229600" cy="438300"/>
            <a:chOff x="0" y="0"/>
            <a:chExt cx="8229600" cy="438300"/>
          </a:xfrm>
        </p:grpSpPr>
        <p:sp>
          <p:nvSpPr>
            <p:cNvPr id="106" name="Google Shape;106;p15"/>
            <p:cNvSpPr/>
            <p:nvPr/>
          </p:nvSpPr>
          <p:spPr>
            <a:xfrm>
              <a:off x="0" y="0"/>
              <a:ext cx="8229600" cy="438300"/>
            </a:xfrm>
            <a:prstGeom prst="roundRect">
              <a:avLst>
                <a:gd fmla="val 13043" name="adj"/>
              </a:avLst>
            </a:prstGeom>
            <a:solidFill>
              <a:srgbClr val="F1F1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0" y="0"/>
              <a:ext cx="47700" cy="438300"/>
            </a:xfrm>
            <a:prstGeom prst="roundRect">
              <a:avLst>
                <a:gd fmla="val 4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152400" y="0"/>
              <a:ext cx="79629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1A73E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Core Protocol Principle:</a:t>
              </a:r>
              <a:r>
                <a:rPr b="0" lang="en" sz="900">
                  <a:solidFill>
                    <a:srgbClr val="333333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 The single highest-risk chemotherapy agent dictates the baseline prophylaxis tier. Anti-emetics start 30 min (IV) or 60 min (PO) pre-chemo. Dexamethasone is strictly excluded in Acute Lymphoblastic Leukemia (ALL) and brain tumors.</a:t>
              </a:r>
              <a:endParaRPr b="0" sz="900">
                <a:solidFill>
                  <a:srgbClr val="333333"/>
                </a:solidFill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grpSp>
        <p:nvGrpSpPr>
          <p:cNvPr id="109" name="Google Shape;109;p15"/>
          <p:cNvGrpSpPr/>
          <p:nvPr/>
        </p:nvGrpSpPr>
        <p:grpSpPr>
          <a:xfrm>
            <a:off x="457200" y="1543050"/>
            <a:ext cx="4019700" cy="1447800"/>
            <a:chOff x="0" y="0"/>
            <a:chExt cx="4019700" cy="1447800"/>
          </a:xfrm>
        </p:grpSpPr>
        <p:sp>
          <p:nvSpPr>
            <p:cNvPr id="110" name="Google Shape;110;p15"/>
            <p:cNvSpPr/>
            <p:nvPr/>
          </p:nvSpPr>
          <p:spPr>
            <a:xfrm>
              <a:off x="0" y="0"/>
              <a:ext cx="4019700" cy="1447800"/>
            </a:xfrm>
            <a:prstGeom prst="roundRect">
              <a:avLst>
                <a:gd fmla="val 6578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152400" y="114300"/>
              <a:ext cx="2667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A60812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Hoog Emetogeen (HEC)</a:t>
              </a:r>
              <a:endParaRPr b="0" sz="1300">
                <a:solidFill>
                  <a:srgbClr val="A6081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3143250" y="114300"/>
              <a:ext cx="723900" cy="190500"/>
            </a:xfrm>
            <a:prstGeom prst="roundRect">
              <a:avLst>
                <a:gd fmla="val 50000" name="adj"/>
              </a:avLst>
            </a:prstGeom>
            <a:solidFill>
              <a:srgbClr val="FCE8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3143250" y="114300"/>
              <a:ext cx="723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60812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&gt;90% Risk</a:t>
              </a:r>
              <a:endParaRPr/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152400" y="361950"/>
              <a:ext cx="3714900" cy="10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Chemotherapy:</a:t>
              </a:r>
              <a:r>
                <a:rPr b="0" lang="en" sz="95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Cisplatine, Carboplatine, Melphalan IV, Thiotepa IV ≥ 300 mg/m², Cyclofosfamide &gt; 1500 mg/m², Cytarabine IV ≥ 3 g/m², Ifosfamide/Etoposide.</a:t>
              </a:r>
              <a:endParaRPr b="0" sz="950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A60812"/>
                  </a:solidFill>
                  <a:highlight>
                    <a:srgbClr val="FFFFFF"/>
                  </a:highlight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Quadruple Therapy:</a:t>
              </a:r>
              <a:r>
                <a:rPr b="0" lang="en" sz="950">
                  <a:solidFill>
                    <a:srgbClr val="666666"/>
                  </a:solidFill>
                  <a:highlight>
                    <a:srgbClr val="FFFFFF"/>
                  </a:highlight>
                  <a:latin typeface="Google Sans"/>
                  <a:ea typeface="Google Sans"/>
                  <a:cs typeface="Google Sans"/>
                  <a:sym typeface="Google Sans"/>
                </a:rPr>
                <a:t> Ondansetron (3x/day) + Dexamethasone + Aprepitant + Olanzapine (&gt;2 years).</a:t>
              </a:r>
              <a:endParaRPr b="0" sz="950">
                <a:solidFill>
                  <a:srgbClr val="666666"/>
                </a:solidFill>
                <a:highlight>
                  <a:srgbClr val="FFFFFF"/>
                </a:highlight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15" name="Google Shape;115;p15"/>
          <p:cNvGrpSpPr/>
          <p:nvPr/>
        </p:nvGrpSpPr>
        <p:grpSpPr>
          <a:xfrm>
            <a:off x="4667250" y="1543050"/>
            <a:ext cx="4019700" cy="1447800"/>
            <a:chOff x="0" y="0"/>
            <a:chExt cx="4019700" cy="1447800"/>
          </a:xfrm>
        </p:grpSpPr>
        <p:sp>
          <p:nvSpPr>
            <p:cNvPr id="116" name="Google Shape;116;p15"/>
            <p:cNvSpPr/>
            <p:nvPr/>
          </p:nvSpPr>
          <p:spPr>
            <a:xfrm>
              <a:off x="0" y="0"/>
              <a:ext cx="4019700" cy="1447800"/>
            </a:xfrm>
            <a:prstGeom prst="roundRect">
              <a:avLst>
                <a:gd fmla="val 6578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152400" y="114300"/>
              <a:ext cx="2667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B06000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Matig Emetogeen (MEC)</a:t>
              </a:r>
              <a:endParaRPr b="0" sz="1300">
                <a:solidFill>
                  <a:srgbClr val="B06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048000" y="114300"/>
              <a:ext cx="819300" cy="190500"/>
            </a:xfrm>
            <a:prstGeom prst="roundRect">
              <a:avLst>
                <a:gd fmla="val 50000" name="adj"/>
              </a:avLst>
            </a:prstGeom>
            <a:solidFill>
              <a:srgbClr val="FFF7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3048000" y="114300"/>
              <a:ext cx="819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B06000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30–90% Risk</a:t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152400" y="361950"/>
              <a:ext cx="3714900" cy="10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Chemotherapy:</a:t>
              </a:r>
              <a:r>
                <a:rPr b="0" lang="en" sz="95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Ifosfamide, Daunorubicine, Cyclofosfamide IV ≤ 1500 mg/m², Cytarabine &gt; 200 mg - &lt; 3 g/m², Methotrexaat IV ≥ 250 mg - &lt; 12 g/m², Irinotecan.</a:t>
              </a:r>
              <a:endParaRPr b="0" sz="950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B06000"/>
                  </a:solidFill>
                  <a:highlight>
                    <a:srgbClr val="FFFFFF"/>
                  </a:highlight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Dual Therapy:</a:t>
              </a:r>
              <a:r>
                <a:rPr b="0" lang="en" sz="950">
                  <a:solidFill>
                    <a:srgbClr val="666666"/>
                  </a:solidFill>
                  <a:highlight>
                    <a:srgbClr val="FFFFFF"/>
                  </a:highlight>
                  <a:latin typeface="Google Sans"/>
                  <a:ea typeface="Google Sans"/>
                  <a:cs typeface="Google Sans"/>
                  <a:sym typeface="Google Sans"/>
                </a:rPr>
                <a:t> Ondansetron (2x/day) + Dexamethasone OR Aprepitant.</a:t>
              </a:r>
              <a:endParaRPr b="0" sz="950">
                <a:solidFill>
                  <a:srgbClr val="666666"/>
                </a:solidFill>
                <a:highlight>
                  <a:srgbClr val="FFFFFF"/>
                </a:highlight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21" name="Google Shape;121;p15"/>
          <p:cNvGrpSpPr/>
          <p:nvPr/>
        </p:nvGrpSpPr>
        <p:grpSpPr>
          <a:xfrm>
            <a:off x="457200" y="3067050"/>
            <a:ext cx="4019700" cy="1447800"/>
            <a:chOff x="0" y="0"/>
            <a:chExt cx="4019700" cy="1447800"/>
          </a:xfrm>
        </p:grpSpPr>
        <p:sp>
          <p:nvSpPr>
            <p:cNvPr id="122" name="Google Shape;122;p15"/>
            <p:cNvSpPr/>
            <p:nvPr/>
          </p:nvSpPr>
          <p:spPr>
            <a:xfrm>
              <a:off x="0" y="0"/>
              <a:ext cx="4019700" cy="1447800"/>
            </a:xfrm>
            <a:prstGeom prst="roundRect">
              <a:avLst>
                <a:gd fmla="val 6578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152400" y="114300"/>
              <a:ext cx="2667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3733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Laag Emetogeen (LEC)</a:t>
              </a:r>
              <a:endParaRPr b="0" sz="1300">
                <a:solidFill>
                  <a:srgbClr val="13733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048000" y="114300"/>
              <a:ext cx="819300" cy="190500"/>
            </a:xfrm>
            <a:prstGeom prst="roundRect">
              <a:avLst>
                <a:gd fmla="val 50000" name="adj"/>
              </a:avLst>
            </a:prstGeom>
            <a:solidFill>
              <a:srgbClr val="E6F4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3048000" y="114300"/>
              <a:ext cx="819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13733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10–30% Risk</a:t>
              </a:r>
              <a:endParaRPr/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152400" y="361950"/>
              <a:ext cx="3714900" cy="10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Chemotherapy:</a:t>
              </a:r>
              <a:r>
                <a:rPr b="0" lang="en" sz="95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Vincristine, Etoposide, Cytarabine &lt; 200 mg/m², Methotrexaat &lt; 250 mg/m², Asparaginase, Doxorubicine liposomaal.</a:t>
              </a:r>
              <a:endParaRPr b="0" sz="950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37333"/>
                  </a:solidFill>
                  <a:highlight>
                    <a:srgbClr val="FFFFFF"/>
                  </a:highlight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Monotherapy:</a:t>
              </a:r>
              <a:r>
                <a:rPr b="0" lang="en" sz="950">
                  <a:solidFill>
                    <a:srgbClr val="666666"/>
                  </a:solidFill>
                  <a:highlight>
                    <a:srgbClr val="FFFFFF"/>
                  </a:highlight>
                  <a:latin typeface="Google Sans"/>
                  <a:ea typeface="Google Sans"/>
                  <a:cs typeface="Google Sans"/>
                  <a:sym typeface="Google Sans"/>
                </a:rPr>
                <a:t> Ondansetron (1x/day) (only on chemotherapy days).</a:t>
              </a:r>
              <a:endParaRPr b="0" sz="950">
                <a:solidFill>
                  <a:srgbClr val="666666"/>
                </a:solidFill>
                <a:highlight>
                  <a:srgbClr val="FFFFFF"/>
                </a:highlight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27" name="Google Shape;127;p15"/>
          <p:cNvGrpSpPr/>
          <p:nvPr/>
        </p:nvGrpSpPr>
        <p:grpSpPr>
          <a:xfrm>
            <a:off x="4667250" y="3067050"/>
            <a:ext cx="4019700" cy="1447800"/>
            <a:chOff x="0" y="0"/>
            <a:chExt cx="4019700" cy="1447800"/>
          </a:xfrm>
        </p:grpSpPr>
        <p:sp>
          <p:nvSpPr>
            <p:cNvPr id="128" name="Google Shape;128;p15"/>
            <p:cNvSpPr/>
            <p:nvPr/>
          </p:nvSpPr>
          <p:spPr>
            <a:xfrm>
              <a:off x="0" y="0"/>
              <a:ext cx="4019700" cy="1447800"/>
            </a:xfrm>
            <a:prstGeom prst="roundRect">
              <a:avLst>
                <a:gd fmla="val 6578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152400" y="114300"/>
              <a:ext cx="2667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555555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Minimaal Emetogeen</a:t>
              </a:r>
              <a:endParaRPr b="0" sz="1300">
                <a:solidFill>
                  <a:srgbClr val="555555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3143250" y="114300"/>
              <a:ext cx="723900" cy="190500"/>
            </a:xfrm>
            <a:prstGeom prst="roundRect">
              <a:avLst>
                <a:gd fmla="val 50000" name="adj"/>
              </a:avLst>
            </a:prstGeom>
            <a:solidFill>
              <a:srgbClr val="E8E8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3143250" y="114300"/>
              <a:ext cx="723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&lt;10% Risk</a:t>
              </a:r>
              <a:endParaRPr/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152400" y="361950"/>
              <a:ext cx="3714900" cy="10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Chemotherapy:</a:t>
              </a:r>
              <a:r>
                <a:rPr b="0" lang="en" sz="95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Bleomycine, Rituximab, Bortezomib, Fludarabine, Methotrexaat &lt; 50 mg/m², Gemtuzumab ozogamicin.</a:t>
              </a:r>
              <a:endParaRPr b="0" sz="950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highlight>
                    <a:srgbClr val="FFFFFF"/>
                  </a:highlight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No standard prophylaxis:</a:t>
              </a:r>
              <a:r>
                <a:rPr b="0" lang="en" sz="950">
                  <a:solidFill>
                    <a:srgbClr val="666666"/>
                  </a:solidFill>
                  <a:highlight>
                    <a:srgbClr val="FFFFFF"/>
                  </a:highlight>
                  <a:latin typeface="Google Sans"/>
                  <a:ea typeface="Google Sans"/>
                  <a:cs typeface="Google Sans"/>
                  <a:sym typeface="Google Sans"/>
                </a:rPr>
                <a:t> (rescue medication on demand).</a:t>
              </a:r>
              <a:endParaRPr b="0" sz="950">
                <a:solidFill>
                  <a:srgbClr val="666666"/>
                </a:solidFill>
                <a:highlight>
                  <a:srgbClr val="FFFFFF"/>
                </a:highlight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33" name="Google Shape;133;p15"/>
          <p:cNvGrpSpPr/>
          <p:nvPr/>
        </p:nvGrpSpPr>
        <p:grpSpPr>
          <a:xfrm>
            <a:off x="457200" y="4610100"/>
            <a:ext cx="8229600" cy="304800"/>
            <a:chOff x="0" y="0"/>
            <a:chExt cx="8229600" cy="304800"/>
          </a:xfrm>
        </p:grpSpPr>
        <p:cxnSp>
          <p:nvCxnSpPr>
            <p:cNvPr id="134" name="Google Shape;134;p15"/>
            <p:cNvCxnSpPr/>
            <p:nvPr/>
          </p:nvCxnSpPr>
          <p:spPr>
            <a:xfrm>
              <a:off x="0" y="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5" name="Google Shape;135;p15"/>
            <p:cNvSpPr txBox="1"/>
            <p:nvPr/>
          </p:nvSpPr>
          <p:spPr>
            <a:xfrm>
              <a:off x="0" y="76200"/>
              <a:ext cx="822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1A73E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Technical Rule:</a:t>
              </a:r>
              <a:r>
                <a:rPr b="0" lang="en" sz="850">
                  <a:solidFill>
                    <a:srgbClr val="888888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 Candidates must model these tiers algorithmically rather than relying on LLM intuition.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6"/>
          <p:cNvGrpSpPr/>
          <p:nvPr/>
        </p:nvGrpSpPr>
        <p:grpSpPr>
          <a:xfrm>
            <a:off x="0" y="0"/>
            <a:ext cx="9144000" cy="57300"/>
            <a:chOff x="0" y="0"/>
            <a:chExt cx="9144000" cy="57300"/>
          </a:xfrm>
        </p:grpSpPr>
        <p:sp>
          <p:nvSpPr>
            <p:cNvPr id="141" name="Google Shape;141;p16"/>
            <p:cNvSpPr/>
            <p:nvPr/>
          </p:nvSpPr>
          <p:spPr>
            <a:xfrm>
              <a:off x="0" y="0"/>
              <a:ext cx="2286000" cy="57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2286000" y="0"/>
              <a:ext cx="2286000" cy="57300"/>
            </a:xfrm>
            <a:prstGeom prst="rect">
              <a:avLst/>
            </a:prstGeom>
            <a:solidFill>
              <a:srgbClr val="A6081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4572000" y="0"/>
              <a:ext cx="2286000" cy="57300"/>
            </a:xfrm>
            <a:prstGeom prst="rect">
              <a:avLst/>
            </a:prstGeom>
            <a:solidFill>
              <a:srgbClr val="B06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6858000" y="0"/>
              <a:ext cx="2286000" cy="57300"/>
            </a:xfrm>
            <a:prstGeom prst="rect">
              <a:avLst/>
            </a:prstGeom>
            <a:solidFill>
              <a:srgbClr val="137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16"/>
          <p:cNvGrpSpPr/>
          <p:nvPr/>
        </p:nvGrpSpPr>
        <p:grpSpPr>
          <a:xfrm>
            <a:off x="457200" y="171450"/>
            <a:ext cx="1771800" cy="304950"/>
            <a:chOff x="0" y="0"/>
            <a:chExt cx="1771800" cy="304950"/>
          </a:xfrm>
        </p:grpSpPr>
        <p:sp>
          <p:nvSpPr>
            <p:cNvPr id="146" name="Google Shape;146;p16"/>
            <p:cNvSpPr/>
            <p:nvPr/>
          </p:nvSpPr>
          <p:spPr>
            <a:xfrm>
              <a:off x="0" y="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45000" y="0"/>
                  </a:moveTo>
                  <a:lnTo>
                    <a:pt x="75000" y="0"/>
                  </a:lnTo>
                  <a:lnTo>
                    <a:pt x="75000" y="45000"/>
                  </a:lnTo>
                  <a:lnTo>
                    <a:pt x="120000" y="45000"/>
                  </a:lnTo>
                  <a:lnTo>
                    <a:pt x="120000" y="75000"/>
                  </a:lnTo>
                  <a:lnTo>
                    <a:pt x="75000" y="75000"/>
                  </a:lnTo>
                  <a:lnTo>
                    <a:pt x="75000" y="120000"/>
                  </a:lnTo>
                  <a:lnTo>
                    <a:pt x="45000" y="120000"/>
                  </a:lnTo>
                  <a:lnTo>
                    <a:pt x="45000" y="75000"/>
                  </a:lnTo>
                  <a:lnTo>
                    <a:pt x="0" y="75000"/>
                  </a:lnTo>
                  <a:lnTo>
                    <a:pt x="0" y="45000"/>
                  </a:lnTo>
                  <a:lnTo>
                    <a:pt x="45000" y="4500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114300" y="114300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342900" y="190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343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AImesis</a:t>
              </a:r>
              <a:endParaRPr b="1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49" name="Google Shape;149;p16"/>
          <p:cNvGrpSpPr/>
          <p:nvPr/>
        </p:nvGrpSpPr>
        <p:grpSpPr>
          <a:xfrm>
            <a:off x="5905500" y="190500"/>
            <a:ext cx="2781300" cy="228600"/>
            <a:chOff x="0" y="0"/>
            <a:chExt cx="2781300" cy="228600"/>
          </a:xfrm>
        </p:grpSpPr>
        <p:sp>
          <p:nvSpPr>
            <p:cNvPr id="150" name="Google Shape;150;p16"/>
            <p:cNvSpPr/>
            <p:nvPr/>
          </p:nvSpPr>
          <p:spPr>
            <a:xfrm>
              <a:off x="0" y="0"/>
              <a:ext cx="2781300" cy="228600"/>
            </a:xfrm>
            <a:prstGeom prst="roundRect">
              <a:avLst>
                <a:gd fmla="val 50000" name="adj"/>
              </a:avLst>
            </a:prstGeom>
            <a:solidFill>
              <a:srgbClr val="E1F5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 txBox="1"/>
            <p:nvPr/>
          </p:nvSpPr>
          <p:spPr>
            <a:xfrm>
              <a:off x="0" y="0"/>
              <a:ext cx="2781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77BD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Architecture Specification • Neuro-Symbolic Blueprint</a:t>
              </a:r>
              <a:endParaRPr/>
            </a:p>
          </p:txBody>
        </p:sp>
      </p:grpSp>
      <p:grpSp>
        <p:nvGrpSpPr>
          <p:cNvPr id="152" name="Google Shape;152;p16"/>
          <p:cNvGrpSpPr/>
          <p:nvPr/>
        </p:nvGrpSpPr>
        <p:grpSpPr>
          <a:xfrm>
            <a:off x="457200" y="495300"/>
            <a:ext cx="8229600" cy="495300"/>
            <a:chOff x="0" y="0"/>
            <a:chExt cx="8229600" cy="495300"/>
          </a:xfrm>
        </p:grpSpPr>
        <p:sp>
          <p:nvSpPr>
            <p:cNvPr id="153" name="Google Shape;153;p16"/>
            <p:cNvSpPr txBox="1"/>
            <p:nvPr/>
          </p:nvSpPr>
          <p:spPr>
            <a:xfrm>
              <a:off x="0" y="0"/>
              <a:ext cx="8229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4343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System Architecture &amp; Safety Gating</a:t>
              </a:r>
              <a:endParaRPr/>
            </a:p>
          </p:txBody>
        </p:sp>
        <p:sp>
          <p:nvSpPr>
            <p:cNvPr id="154" name="Google Shape;154;p16"/>
            <p:cNvSpPr txBox="1"/>
            <p:nvPr/>
          </p:nvSpPr>
          <p:spPr>
            <a:xfrm>
              <a:off x="0" y="304800"/>
              <a:ext cx="8229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99999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Neuro-symbolic design: Deterministic dosing engine + LLM conversational reasoning + DDI screener</a:t>
              </a: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7200" y="1066800"/>
            <a:ext cx="4000500" cy="1657500"/>
            <a:chOff x="0" y="0"/>
            <a:chExt cx="4000500" cy="1657500"/>
          </a:xfrm>
        </p:grpSpPr>
        <p:sp>
          <p:nvSpPr>
            <p:cNvPr id="156" name="Google Shape;156;p16"/>
            <p:cNvSpPr/>
            <p:nvPr/>
          </p:nvSpPr>
          <p:spPr>
            <a:xfrm>
              <a:off x="0" y="0"/>
              <a:ext cx="4000500" cy="1657500"/>
            </a:xfrm>
            <a:prstGeom prst="roundRect">
              <a:avLst>
                <a:gd fmla="val 5747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0" y="0"/>
              <a:ext cx="57300" cy="1657500"/>
            </a:xfrm>
            <a:prstGeom prst="roundRect">
              <a:avLst>
                <a:gd fmla="val 50000" name="adj"/>
              </a:avLst>
            </a:prstGeom>
            <a:solidFill>
              <a:srgbClr val="A6081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 txBox="1"/>
            <p:nvPr/>
          </p:nvSpPr>
          <p:spPr>
            <a:xfrm>
              <a:off x="209550" y="152400"/>
              <a:ext cx="36387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1. Deterministic Dosing Core</a:t>
              </a:r>
              <a:endParaRPr b="0" sz="1300">
                <a:solidFill>
                  <a:srgbClr val="43434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ZERO tolerance for LLM-hallucinated dosages. Drug doses, BSA scaling (mg/m²), weight-tiers (mg/kg), and stop dates must run through deterministic rules matching the July 2026 protocol.</a:t>
              </a:r>
              <a:endParaRPr b="0" sz="1000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60812"/>
                  </a:solidFill>
                  <a:highlight>
                    <a:srgbClr val="FCE8E6"/>
                  </a:highlight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Zero Hallucination Policy</a:t>
              </a:r>
              <a:endParaRPr b="0" sz="850">
                <a:solidFill>
                  <a:srgbClr val="A60812"/>
                </a:solidFill>
                <a:highlight>
                  <a:srgbClr val="FCE8E6"/>
                </a:highlight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</p:grpSp>
      <p:grpSp>
        <p:nvGrpSpPr>
          <p:cNvPr id="159" name="Google Shape;159;p16"/>
          <p:cNvGrpSpPr/>
          <p:nvPr/>
        </p:nvGrpSpPr>
        <p:grpSpPr>
          <a:xfrm>
            <a:off x="4686300" y="1066800"/>
            <a:ext cx="4000500" cy="1657500"/>
            <a:chOff x="0" y="0"/>
            <a:chExt cx="4000500" cy="1657500"/>
          </a:xfrm>
        </p:grpSpPr>
        <p:sp>
          <p:nvSpPr>
            <p:cNvPr id="160" name="Google Shape;160;p16"/>
            <p:cNvSpPr/>
            <p:nvPr/>
          </p:nvSpPr>
          <p:spPr>
            <a:xfrm>
              <a:off x="0" y="0"/>
              <a:ext cx="4000500" cy="1657500"/>
            </a:xfrm>
            <a:prstGeom prst="roundRect">
              <a:avLst>
                <a:gd fmla="val 5747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0" y="0"/>
              <a:ext cx="57300" cy="16575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6"/>
            <p:cNvSpPr txBox="1"/>
            <p:nvPr/>
          </p:nvSpPr>
          <p:spPr>
            <a:xfrm>
              <a:off x="209550" y="152400"/>
              <a:ext cx="36387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2. LLM Conversational Reasoning</a:t>
              </a:r>
              <a:endParaRPr b="0" sz="1300">
                <a:solidFill>
                  <a:srgbClr val="43434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Functions as a clinical copilot: parsing messy physician queries, extracting structured chemotherapy regimens, orchestrating safety tools, and drafting structured discharge summaries.</a:t>
              </a:r>
              <a:endParaRPr b="0" sz="1000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1A73E8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Clinical Copilot &amp; Tool Calling</a:t>
              </a:r>
              <a:endParaRPr b="0" sz="850">
                <a:solidFill>
                  <a:srgbClr val="1A73E8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</p:grpSp>
      <p:grpSp>
        <p:nvGrpSpPr>
          <p:cNvPr id="163" name="Google Shape;163;p16"/>
          <p:cNvGrpSpPr/>
          <p:nvPr/>
        </p:nvGrpSpPr>
        <p:grpSpPr>
          <a:xfrm>
            <a:off x="457200" y="2838450"/>
            <a:ext cx="4000500" cy="1657500"/>
            <a:chOff x="0" y="0"/>
            <a:chExt cx="4000500" cy="1657500"/>
          </a:xfrm>
        </p:grpSpPr>
        <p:sp>
          <p:nvSpPr>
            <p:cNvPr id="164" name="Google Shape;164;p16"/>
            <p:cNvSpPr/>
            <p:nvPr/>
          </p:nvSpPr>
          <p:spPr>
            <a:xfrm>
              <a:off x="0" y="0"/>
              <a:ext cx="4000500" cy="1657500"/>
            </a:xfrm>
            <a:prstGeom prst="roundRect">
              <a:avLst>
                <a:gd fmla="val 5747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0" y="0"/>
              <a:ext cx="57300" cy="1657500"/>
            </a:xfrm>
            <a:prstGeom prst="roundRect">
              <a:avLst>
                <a:gd fmla="val 50000" name="adj"/>
              </a:avLst>
            </a:prstGeom>
            <a:solidFill>
              <a:srgbClr val="B06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 txBox="1"/>
            <p:nvPr/>
          </p:nvSpPr>
          <p:spPr>
            <a:xfrm>
              <a:off x="209550" y="152400"/>
              <a:ext cx="36387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3. Automated DDI &amp; Toxicity Screener</a:t>
              </a:r>
              <a:endParaRPr b="0" sz="1300">
                <a:solidFill>
                  <a:srgbClr val="43434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Real-time gatekeeper checking for fatal clinical collisions: Aprepitant CYP3A4 inhibition with Vincristine, additive QTc prolongation (Ondansetron + Voriconazole), and steroid exclusions in ALL protocols.</a:t>
              </a:r>
              <a:endParaRPr b="0" sz="1000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B06000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Lethal DDI Red Alerts</a:t>
              </a:r>
              <a:endParaRPr b="0" sz="850">
                <a:solidFill>
                  <a:srgbClr val="B06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</p:grpSp>
      <p:grpSp>
        <p:nvGrpSpPr>
          <p:cNvPr id="167" name="Google Shape;167;p16"/>
          <p:cNvGrpSpPr/>
          <p:nvPr/>
        </p:nvGrpSpPr>
        <p:grpSpPr>
          <a:xfrm>
            <a:off x="4686300" y="2838450"/>
            <a:ext cx="4000500" cy="1657500"/>
            <a:chOff x="0" y="0"/>
            <a:chExt cx="4000500" cy="1657500"/>
          </a:xfrm>
        </p:grpSpPr>
        <p:sp>
          <p:nvSpPr>
            <p:cNvPr id="168" name="Google Shape;168;p16"/>
            <p:cNvSpPr/>
            <p:nvPr/>
          </p:nvSpPr>
          <p:spPr>
            <a:xfrm>
              <a:off x="0" y="0"/>
              <a:ext cx="4000500" cy="1657500"/>
            </a:xfrm>
            <a:prstGeom prst="roundRect">
              <a:avLst>
                <a:gd fmla="val 5747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0" y="0"/>
              <a:ext cx="57300" cy="1657500"/>
            </a:xfrm>
            <a:prstGeom prst="roundRect">
              <a:avLst>
                <a:gd fmla="val 50000" name="adj"/>
              </a:avLst>
            </a:prstGeom>
            <a:solidFill>
              <a:srgbClr val="137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6"/>
            <p:cNvSpPr txBox="1"/>
            <p:nvPr/>
          </p:nvSpPr>
          <p:spPr>
            <a:xfrm>
              <a:off x="209550" y="152400"/>
              <a:ext cx="36387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4. Dual-Key Human-in-the-Loop</a:t>
              </a:r>
              <a:endParaRPr b="0" sz="1300">
                <a:solidFill>
                  <a:srgbClr val="43434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Eliminates automation bias. Prevents single-click approvals by requiring active friction confirmation and independent digital sign-offs from both the Treating Oncologist and Clinical Pharmacist.</a:t>
              </a:r>
              <a:endParaRPr b="0" sz="1000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137333"/>
                  </a:solidFill>
                  <a:highlight>
                    <a:srgbClr val="E6F4EA"/>
                  </a:highlight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Dual Specialist Sign-Off</a:t>
              </a:r>
              <a:endParaRPr b="0" sz="850">
                <a:solidFill>
                  <a:srgbClr val="137333"/>
                </a:solidFill>
                <a:highlight>
                  <a:srgbClr val="E6F4EA"/>
                </a:highlight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</p:grpSp>
      <p:grpSp>
        <p:nvGrpSpPr>
          <p:cNvPr id="171" name="Google Shape;171;p16"/>
          <p:cNvGrpSpPr/>
          <p:nvPr/>
        </p:nvGrpSpPr>
        <p:grpSpPr>
          <a:xfrm>
            <a:off x="457200" y="4648200"/>
            <a:ext cx="8229600" cy="324000"/>
            <a:chOff x="0" y="0"/>
            <a:chExt cx="8229600" cy="324000"/>
          </a:xfrm>
        </p:grpSpPr>
        <p:sp>
          <p:nvSpPr>
            <p:cNvPr id="172" name="Google Shape;172;p16"/>
            <p:cNvSpPr/>
            <p:nvPr/>
          </p:nvSpPr>
          <p:spPr>
            <a:xfrm>
              <a:off x="0" y="0"/>
              <a:ext cx="8229600" cy="324000"/>
            </a:xfrm>
            <a:prstGeom prst="roundRect">
              <a:avLst>
                <a:gd fmla="val 17647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 txBox="1"/>
            <p:nvPr/>
          </p:nvSpPr>
          <p:spPr>
            <a:xfrm>
              <a:off x="152400" y="0"/>
              <a:ext cx="79248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343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SaMD Compliance:</a:t>
              </a:r>
              <a:r>
                <a:rPr b="0" lang="en" sz="900">
                  <a:solidFill>
                    <a:srgbClr val="666666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 Systems will be tested with missing laboratory parameters and hazardous drug pairs.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7"/>
          <p:cNvGrpSpPr/>
          <p:nvPr/>
        </p:nvGrpSpPr>
        <p:grpSpPr>
          <a:xfrm>
            <a:off x="0" y="0"/>
            <a:ext cx="9144000" cy="57300"/>
            <a:chOff x="0" y="0"/>
            <a:chExt cx="9144000" cy="57300"/>
          </a:xfrm>
        </p:grpSpPr>
        <p:sp>
          <p:nvSpPr>
            <p:cNvPr id="179" name="Google Shape;179;p17"/>
            <p:cNvSpPr/>
            <p:nvPr/>
          </p:nvSpPr>
          <p:spPr>
            <a:xfrm>
              <a:off x="0" y="0"/>
              <a:ext cx="2286000" cy="57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2286000" y="0"/>
              <a:ext cx="2286000" cy="57300"/>
            </a:xfrm>
            <a:prstGeom prst="rect">
              <a:avLst/>
            </a:prstGeom>
            <a:solidFill>
              <a:srgbClr val="A6081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4572000" y="0"/>
              <a:ext cx="2286000" cy="57300"/>
            </a:xfrm>
            <a:prstGeom prst="rect">
              <a:avLst/>
            </a:prstGeom>
            <a:solidFill>
              <a:srgbClr val="B06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6858000" y="0"/>
              <a:ext cx="2286000" cy="57300"/>
            </a:xfrm>
            <a:prstGeom prst="rect">
              <a:avLst/>
            </a:prstGeom>
            <a:solidFill>
              <a:srgbClr val="137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" name="Google Shape;183;p17"/>
          <p:cNvGrpSpPr/>
          <p:nvPr/>
        </p:nvGrpSpPr>
        <p:grpSpPr>
          <a:xfrm>
            <a:off x="457200" y="177175"/>
            <a:ext cx="1771800" cy="304950"/>
            <a:chOff x="0" y="0"/>
            <a:chExt cx="1771800" cy="304950"/>
          </a:xfrm>
        </p:grpSpPr>
        <p:sp>
          <p:nvSpPr>
            <p:cNvPr id="184" name="Google Shape;184;p17"/>
            <p:cNvSpPr/>
            <p:nvPr/>
          </p:nvSpPr>
          <p:spPr>
            <a:xfrm>
              <a:off x="0" y="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45000" y="0"/>
                  </a:moveTo>
                  <a:lnTo>
                    <a:pt x="75000" y="0"/>
                  </a:lnTo>
                  <a:lnTo>
                    <a:pt x="75000" y="45000"/>
                  </a:lnTo>
                  <a:lnTo>
                    <a:pt x="120000" y="45000"/>
                  </a:lnTo>
                  <a:lnTo>
                    <a:pt x="120000" y="75000"/>
                  </a:lnTo>
                  <a:lnTo>
                    <a:pt x="75000" y="75000"/>
                  </a:lnTo>
                  <a:lnTo>
                    <a:pt x="75000" y="120000"/>
                  </a:lnTo>
                  <a:lnTo>
                    <a:pt x="45000" y="120000"/>
                  </a:lnTo>
                  <a:lnTo>
                    <a:pt x="45000" y="75000"/>
                  </a:lnTo>
                  <a:lnTo>
                    <a:pt x="0" y="75000"/>
                  </a:lnTo>
                  <a:lnTo>
                    <a:pt x="0" y="45000"/>
                  </a:lnTo>
                  <a:lnTo>
                    <a:pt x="45000" y="4500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114300" y="114300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 txBox="1"/>
            <p:nvPr/>
          </p:nvSpPr>
          <p:spPr>
            <a:xfrm>
              <a:off x="342900" y="190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343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AImesis</a:t>
              </a:r>
              <a:endParaRPr b="1" sz="18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187" name="Google Shape;187;p17"/>
          <p:cNvSpPr/>
          <p:nvPr/>
        </p:nvSpPr>
        <p:spPr>
          <a:xfrm>
            <a:off x="6305400" y="252950"/>
            <a:ext cx="2381400" cy="209700"/>
          </a:xfrm>
          <a:prstGeom prst="roundRect">
            <a:avLst>
              <a:gd fmla="val 50000" name="adj"/>
            </a:avLst>
          </a:prstGeom>
          <a:solidFill>
            <a:srgbClr val="E1F5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305400" y="252950"/>
            <a:ext cx="2381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65">
                <a:solidFill>
                  <a:srgbClr val="0288D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Grounding Resources • Belgian Clinical Landscape</a:t>
            </a:r>
            <a:endParaRPr sz="1190"/>
          </a:p>
        </p:txBody>
      </p:sp>
      <p:sp>
        <p:nvSpPr>
          <p:cNvPr id="189" name="Google Shape;189;p17"/>
          <p:cNvSpPr txBox="1"/>
          <p:nvPr/>
        </p:nvSpPr>
        <p:spPr>
          <a:xfrm>
            <a:off x="457200" y="495300"/>
            <a:ext cx="82296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5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Knowledge Vault &amp; Datasets</a:t>
            </a:r>
            <a:endParaRPr b="1" sz="2405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95">
                <a:solidFill>
                  <a:srgbClr val="99999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The July 2026 Hospital Policy and verified clinical pharmacology compendiums</a:t>
            </a:r>
            <a:endParaRPr b="0" sz="1295">
              <a:solidFill>
                <a:srgbClr val="99999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pSp>
        <p:nvGrpSpPr>
          <p:cNvPr id="190" name="Google Shape;190;p17"/>
          <p:cNvGrpSpPr/>
          <p:nvPr/>
        </p:nvGrpSpPr>
        <p:grpSpPr>
          <a:xfrm>
            <a:off x="457200" y="1175312"/>
            <a:ext cx="4000500" cy="3444313"/>
            <a:chOff x="0" y="-15313"/>
            <a:chExt cx="4000500" cy="3444313"/>
          </a:xfrm>
        </p:grpSpPr>
        <p:sp>
          <p:nvSpPr>
            <p:cNvPr id="191" name="Google Shape;191;p17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0" y="-15313"/>
              <a:ext cx="4000500" cy="1296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61556"/>
                    <a:pt x="1535" y="14178"/>
                    <a:pt x="3429" y="14178"/>
                  </a:cubicBezTo>
                  <a:lnTo>
                    <a:pt x="116571" y="14178"/>
                  </a:lnTo>
                  <a:cubicBezTo>
                    <a:pt x="117632" y="-4731"/>
                    <a:pt x="118939" y="-4731"/>
                    <a:pt x="120000" y="14178"/>
                  </a:cubicBezTo>
                  <a:lnTo>
                    <a:pt x="120000" y="84726"/>
                  </a:lnTo>
                  <a:lnTo>
                    <a:pt x="0" y="84726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7"/>
            <p:cNvSpPr txBox="1"/>
            <p:nvPr/>
          </p:nvSpPr>
          <p:spPr>
            <a:xfrm>
              <a:off x="228600" y="209550"/>
              <a:ext cx="3543300" cy="30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88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Hospital Policy (July 2026 Versie 2)</a:t>
              </a:r>
              <a:endParaRPr b="0" sz="1388">
                <a:solidFill>
                  <a:srgbClr val="43434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1A73E8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Source Type: </a:t>
              </a:r>
              <a:r>
                <a:rPr b="0" lang="en" sz="1018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Internal Clinical Guideline PDF (Provided directly)</a:t>
              </a:r>
              <a:endParaRPr b="0" sz="1018">
                <a:solidFill>
                  <a:srgbClr val="1A73E8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Scope &amp; Contents:</a:t>
              </a:r>
              <a:endParaRPr b="0" sz="1018">
                <a:solidFill>
                  <a:srgbClr val="43434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-310833" lvl="0" marL="457200" rtl="0" algn="l">
                <a:spcBef>
                  <a:spcPts val="4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1018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Authoritative hospital protocol for all pediatric oncology antiemetic regimens.</a:t>
              </a:r>
              <a:endParaRPr b="0" sz="1018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310833" lvl="0" marL="457200" rtl="0" algn="l">
                <a:spcBef>
                  <a:spcPts val="4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1018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Baseline emetic risk stratifications (HEC, MEC, LEC, Minimal).</a:t>
              </a:r>
              <a:endParaRPr b="0" sz="1018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310833" lvl="0" marL="457200" rtl="0" algn="l">
                <a:spcBef>
                  <a:spcPts val="4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1018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Body Surface Area (BSA) and weight-based pediatric dosing formulas.</a:t>
              </a:r>
              <a:endParaRPr b="0" sz="1018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310833" lvl="0" marL="457200" rtl="0" algn="l">
                <a:spcBef>
                  <a:spcPts val="4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1018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Administration timing rules (30 min IV / 60 min PO pre-chemo) and strict stop dates.</a:t>
              </a:r>
              <a:endParaRPr b="0" sz="1018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-310833" lvl="0" marL="457200" rtl="0" algn="l">
                <a:spcBef>
                  <a:spcPts val="4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1018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Breakthrough escalation pathways (Olanzapine, Alizapride, Lorazepam).</a:t>
              </a:r>
              <a:endParaRPr b="0" sz="1018">
                <a:solidFill>
                  <a:srgbClr val="666666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1A73E8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Ground Truth Formulary</a:t>
              </a:r>
              <a:endParaRPr sz="1295">
                <a:highlight>
                  <a:srgbClr val="E8F0FE"/>
                </a:highlight>
              </a:endParaRPr>
            </a:p>
          </p:txBody>
        </p:sp>
      </p:grpSp>
      <p:grpSp>
        <p:nvGrpSpPr>
          <p:cNvPr id="194" name="Google Shape;194;p17"/>
          <p:cNvGrpSpPr/>
          <p:nvPr/>
        </p:nvGrpSpPr>
        <p:grpSpPr>
          <a:xfrm>
            <a:off x="4686300" y="1175312"/>
            <a:ext cx="4000500" cy="3444313"/>
            <a:chOff x="0" y="-15313"/>
            <a:chExt cx="4000500" cy="3444313"/>
          </a:xfrm>
        </p:grpSpPr>
        <p:sp>
          <p:nvSpPr>
            <p:cNvPr id="195" name="Google Shape;195;p17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0" y="-15313"/>
              <a:ext cx="4000500" cy="1296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61556"/>
                    <a:pt x="1535" y="14178"/>
                    <a:pt x="3429" y="14178"/>
                  </a:cubicBezTo>
                  <a:lnTo>
                    <a:pt x="116571" y="14178"/>
                  </a:lnTo>
                  <a:cubicBezTo>
                    <a:pt x="117632" y="-4731"/>
                    <a:pt x="118939" y="-4731"/>
                    <a:pt x="120000" y="14178"/>
                  </a:cubicBezTo>
                  <a:lnTo>
                    <a:pt x="120000" y="84726"/>
                  </a:lnTo>
                  <a:lnTo>
                    <a:pt x="0" y="84726"/>
                  </a:lnTo>
                  <a:close/>
                </a:path>
              </a:pathLst>
            </a:custGeom>
            <a:solidFill>
              <a:srgbClr val="137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7"/>
            <p:cNvSpPr txBox="1"/>
            <p:nvPr/>
          </p:nvSpPr>
          <p:spPr>
            <a:xfrm>
              <a:off x="228600" y="209550"/>
              <a:ext cx="3543300" cy="30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National External Repositories</a:t>
              </a:r>
              <a:endParaRPr b="0" sz="1500">
                <a:solidFill>
                  <a:srgbClr val="43434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4343"/>
                  </a:solidFill>
                  <a:highlight>
                    <a:srgbClr val="FFFFFF"/>
                  </a:highlight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BCFI / CBIP Compendium </a:t>
              </a:r>
              <a:r>
                <a:rPr b="0" lang="en" sz="1000">
                  <a:solidFill>
                    <a:srgbClr val="137333"/>
                  </a:solidFill>
                  <a:highlight>
                    <a:srgbClr val="FFFFFF"/>
                  </a:highlight>
                  <a:latin typeface="Google Sans"/>
                  <a:ea typeface="Google Sans"/>
                  <a:cs typeface="Google Sans"/>
                  <a:sym typeface="Google Sans"/>
                </a:rPr>
                <a:t>(bcfi.be / cbip.be)</a:t>
              </a:r>
              <a:endParaRPr b="0" sz="1100">
                <a:solidFill>
                  <a:srgbClr val="434343"/>
                </a:solidFill>
                <a:highlight>
                  <a:srgbClr val="FFFFFF"/>
                </a:highlight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66666"/>
                  </a:solidFill>
                  <a:highlight>
                    <a:srgbClr val="FFFFFF"/>
                  </a:highlight>
                  <a:latin typeface="Google Sans"/>
                  <a:ea typeface="Google Sans"/>
                  <a:cs typeface="Google Sans"/>
                  <a:sym typeface="Google Sans"/>
                </a:rPr>
                <a:t>Official Belgian drug registry verifying pediatric indications, authorized commercial formulations (syrups vs. tablets), and CYP3A4 / QTc interaction warnings.</a:t>
              </a:r>
              <a:endParaRPr b="0" sz="1050">
                <a:solidFill>
                  <a:srgbClr val="666666"/>
                </a:solidFill>
                <a:highlight>
                  <a:srgbClr val="FFFFFF"/>
                </a:highlight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4343"/>
                  </a:solidFill>
                  <a:highlight>
                    <a:srgbClr val="FFFFFF"/>
                  </a:highlight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BSPHO Clinical Guidelines </a:t>
              </a:r>
              <a:r>
                <a:rPr b="0" lang="en" sz="1000">
                  <a:solidFill>
                    <a:srgbClr val="137333"/>
                  </a:solidFill>
                  <a:highlight>
                    <a:srgbClr val="FFFFFF"/>
                  </a:highlight>
                  <a:latin typeface="Google Sans"/>
                  <a:ea typeface="Google Sans"/>
                  <a:cs typeface="Google Sans"/>
                  <a:sym typeface="Google Sans"/>
                </a:rPr>
                <a:t>(bspho.be)</a:t>
              </a:r>
              <a:endParaRPr b="0" sz="1100">
                <a:solidFill>
                  <a:srgbClr val="434343"/>
                </a:solidFill>
                <a:highlight>
                  <a:srgbClr val="FFFFFF"/>
                </a:highlight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66666"/>
                  </a:solidFill>
                  <a:highlight>
                    <a:srgbClr val="FFFFFF"/>
                  </a:highlight>
                  <a:latin typeface="Google Sans"/>
                  <a:ea typeface="Google Sans"/>
                  <a:cs typeface="Google Sans"/>
                  <a:sym typeface="Google Sans"/>
                </a:rPr>
                <a:t>Belgian Society of Paediatric Haematology &amp; Oncology protocols establishing national standard-of-care guidelines.</a:t>
              </a:r>
              <a:endParaRPr b="0" sz="1050">
                <a:solidFill>
                  <a:srgbClr val="666666"/>
                </a:solidFill>
                <a:highlight>
                  <a:srgbClr val="FFFFFF"/>
                </a:highlight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37333"/>
                  </a:solidFill>
                  <a:highlight>
                    <a:srgbClr val="E6F4EA"/>
                  </a:highlight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Belgian Regulatory Grounding</a:t>
              </a:r>
              <a:endParaRPr>
                <a:highlight>
                  <a:srgbClr val="E6F4EA"/>
                </a:highlight>
              </a:endParaRPr>
            </a:p>
          </p:txBody>
        </p:sp>
      </p:grpSp>
      <p:cxnSp>
        <p:nvCxnSpPr>
          <p:cNvPr id="198" name="Google Shape;198;p17"/>
          <p:cNvCxnSpPr/>
          <p:nvPr/>
        </p:nvCxnSpPr>
        <p:spPr>
          <a:xfrm>
            <a:off x="457200" y="47244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17"/>
          <p:cNvSpPr txBox="1"/>
          <p:nvPr/>
        </p:nvSpPr>
        <p:spPr>
          <a:xfrm>
            <a:off x="457200" y="4791075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3434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Grounding Rule:</a:t>
            </a:r>
            <a:r>
              <a:rPr b="0" lang="en" sz="900">
                <a:solidFill>
                  <a:srgbClr val="99999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Unsubstantiated clinical claims or non-Belgian formulary grounding will result in penalty deductions.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18"/>
          <p:cNvGrpSpPr/>
          <p:nvPr/>
        </p:nvGrpSpPr>
        <p:grpSpPr>
          <a:xfrm>
            <a:off x="0" y="0"/>
            <a:ext cx="9144000" cy="57300"/>
            <a:chOff x="0" y="0"/>
            <a:chExt cx="9144000" cy="57300"/>
          </a:xfrm>
        </p:grpSpPr>
        <p:sp>
          <p:nvSpPr>
            <p:cNvPr id="205" name="Google Shape;205;p18"/>
            <p:cNvSpPr/>
            <p:nvPr/>
          </p:nvSpPr>
          <p:spPr>
            <a:xfrm>
              <a:off x="0" y="0"/>
              <a:ext cx="2286000" cy="573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8"/>
            <p:cNvSpPr/>
            <p:nvPr/>
          </p:nvSpPr>
          <p:spPr>
            <a:xfrm>
              <a:off x="2286000" y="0"/>
              <a:ext cx="2286000" cy="57300"/>
            </a:xfrm>
            <a:prstGeom prst="rect">
              <a:avLst/>
            </a:prstGeom>
            <a:solidFill>
              <a:srgbClr val="A6081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4572000" y="0"/>
              <a:ext cx="2286000" cy="57300"/>
            </a:xfrm>
            <a:prstGeom prst="rect">
              <a:avLst/>
            </a:prstGeom>
            <a:solidFill>
              <a:srgbClr val="B06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6858000" y="0"/>
              <a:ext cx="2286000" cy="57300"/>
            </a:xfrm>
            <a:prstGeom prst="rect">
              <a:avLst/>
            </a:prstGeom>
            <a:solidFill>
              <a:srgbClr val="137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" name="Google Shape;209;p18"/>
          <p:cNvGrpSpPr/>
          <p:nvPr/>
        </p:nvGrpSpPr>
        <p:grpSpPr>
          <a:xfrm>
            <a:off x="457200" y="209550"/>
            <a:ext cx="8229600" cy="819300"/>
            <a:chOff x="0" y="0"/>
            <a:chExt cx="8229600" cy="819300"/>
          </a:xfrm>
        </p:grpSpPr>
        <p:grpSp>
          <p:nvGrpSpPr>
            <p:cNvPr id="210" name="Google Shape;210;p18"/>
            <p:cNvGrpSpPr/>
            <p:nvPr/>
          </p:nvGrpSpPr>
          <p:grpSpPr>
            <a:xfrm>
              <a:off x="0" y="0"/>
              <a:ext cx="2381400" cy="209700"/>
              <a:chOff x="0" y="0"/>
              <a:chExt cx="2381400" cy="209700"/>
            </a:xfrm>
          </p:grpSpPr>
          <p:sp>
            <p:nvSpPr>
              <p:cNvPr id="211" name="Google Shape;211;p18"/>
              <p:cNvSpPr/>
              <p:nvPr/>
            </p:nvSpPr>
            <p:spPr>
              <a:xfrm>
                <a:off x="0" y="0"/>
                <a:ext cx="23814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E6F4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8"/>
              <p:cNvSpPr txBox="1"/>
              <p:nvPr/>
            </p:nvSpPr>
            <p:spPr>
              <a:xfrm>
                <a:off x="0" y="0"/>
                <a:ext cx="23814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13733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Demo Day Evaluation • Judging Scorecard</a:t>
                </a:r>
                <a:endParaRPr/>
              </a:p>
            </p:txBody>
          </p:sp>
        </p:grpSp>
        <p:sp>
          <p:nvSpPr>
            <p:cNvPr id="213" name="Google Shape;213;p18"/>
            <p:cNvSpPr txBox="1"/>
            <p:nvPr/>
          </p:nvSpPr>
          <p:spPr>
            <a:xfrm>
              <a:off x="0" y="266700"/>
              <a:ext cx="82296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35">
                  <a:solidFill>
                    <a:srgbClr val="4343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[WIP] </a:t>
              </a:r>
              <a:r>
                <a:rPr b="1" lang="en" sz="2035">
                  <a:solidFill>
                    <a:srgbClr val="4343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Challenge Deliverables &amp; Safety Scorecard</a:t>
              </a:r>
              <a:endParaRPr b="1" sz="2035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214" name="Google Shape;214;p18"/>
            <p:cNvSpPr txBox="1"/>
            <p:nvPr/>
          </p:nvSpPr>
          <p:spPr>
            <a:xfrm>
              <a:off x="0" y="609600"/>
              <a:ext cx="82296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99999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Strict evaluation criteria weighted heavily toward DDI screening, zero-hallucination tolerance, and anti-automation-bias UX</a:t>
              </a:r>
              <a:endParaRPr b="0" sz="1100">
                <a:solidFill>
                  <a:srgbClr val="999999"/>
                </a:solidFill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grpSp>
        <p:nvGrpSpPr>
          <p:cNvPr id="215" name="Google Shape;215;p18"/>
          <p:cNvGrpSpPr/>
          <p:nvPr/>
        </p:nvGrpSpPr>
        <p:grpSpPr>
          <a:xfrm>
            <a:off x="457200" y="1123950"/>
            <a:ext cx="4000500" cy="3105300"/>
            <a:chOff x="0" y="0"/>
            <a:chExt cx="4000500" cy="3105300"/>
          </a:xfrm>
        </p:grpSpPr>
        <p:sp>
          <p:nvSpPr>
            <p:cNvPr id="216" name="Google Shape;216;p18"/>
            <p:cNvSpPr/>
            <p:nvPr/>
          </p:nvSpPr>
          <p:spPr>
            <a:xfrm>
              <a:off x="0" y="0"/>
              <a:ext cx="4000500" cy="3105300"/>
            </a:xfrm>
            <a:prstGeom prst="roundRect">
              <a:avLst>
                <a:gd fmla="val 3680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8"/>
            <p:cNvSpPr txBox="1"/>
            <p:nvPr/>
          </p:nvSpPr>
          <p:spPr>
            <a:xfrm>
              <a:off x="190500" y="152400"/>
              <a:ext cx="3619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Required Deliverables</a:t>
              </a:r>
              <a:endParaRPr b="0" sz="1400">
                <a:solidFill>
                  <a:srgbClr val="43434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grpSp>
          <p:nvGrpSpPr>
            <p:cNvPr id="218" name="Google Shape;218;p18"/>
            <p:cNvGrpSpPr/>
            <p:nvPr/>
          </p:nvGrpSpPr>
          <p:grpSpPr>
            <a:xfrm>
              <a:off x="190500" y="476250"/>
              <a:ext cx="3619650" cy="723900"/>
              <a:chOff x="0" y="0"/>
              <a:chExt cx="3619650" cy="723900"/>
            </a:xfrm>
          </p:grpSpPr>
          <p:sp>
            <p:nvSpPr>
              <p:cNvPr id="219" name="Google Shape;219;p18"/>
              <p:cNvSpPr/>
              <p:nvPr/>
            </p:nvSpPr>
            <p:spPr>
              <a:xfrm>
                <a:off x="0" y="0"/>
                <a:ext cx="266700" cy="2667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8"/>
              <p:cNvSpPr txBox="1"/>
              <p:nvPr/>
            </p:nvSpPr>
            <p:spPr>
              <a:xfrm>
                <a:off x="0" y="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1</a:t>
                </a:r>
                <a:endParaRPr b="1" sz="11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221" name="Google Shape;221;p18"/>
              <p:cNvSpPr txBox="1"/>
              <p:nvPr/>
            </p:nvSpPr>
            <p:spPr>
              <a:xfrm>
                <a:off x="361950" y="0"/>
                <a:ext cx="32577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4343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Interactive CDSS Prototype:</a:t>
                </a:r>
                <a:r>
                  <a:rPr b="0" lang="en" sz="1050">
                    <a:solidFill>
                      <a:srgbClr val="666666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 Working tool demonstrating automated regimen parsing, deterministic dosing calculations, and live DDI alerts.</a:t>
                </a:r>
                <a:endParaRPr b="0" sz="105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cxnSp>
          <p:nvCxnSpPr>
            <p:cNvPr id="222" name="Google Shape;222;p18"/>
            <p:cNvCxnSpPr/>
            <p:nvPr/>
          </p:nvCxnSpPr>
          <p:spPr>
            <a:xfrm>
              <a:off x="190500" y="1276350"/>
              <a:ext cx="3619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23" name="Google Shape;223;p18"/>
            <p:cNvGrpSpPr/>
            <p:nvPr/>
          </p:nvGrpSpPr>
          <p:grpSpPr>
            <a:xfrm>
              <a:off x="190500" y="1352550"/>
              <a:ext cx="3619650" cy="819300"/>
              <a:chOff x="0" y="0"/>
              <a:chExt cx="3619650" cy="819300"/>
            </a:xfrm>
          </p:grpSpPr>
          <p:sp>
            <p:nvSpPr>
              <p:cNvPr id="224" name="Google Shape;224;p18"/>
              <p:cNvSpPr/>
              <p:nvPr/>
            </p:nvSpPr>
            <p:spPr>
              <a:xfrm>
                <a:off x="0" y="0"/>
                <a:ext cx="266700" cy="2667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8"/>
              <p:cNvSpPr txBox="1"/>
              <p:nvPr/>
            </p:nvSpPr>
            <p:spPr>
              <a:xfrm>
                <a:off x="0" y="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2</a:t>
                </a:r>
                <a:endParaRPr b="1" sz="11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226" name="Google Shape;226;p18"/>
              <p:cNvSpPr txBox="1"/>
              <p:nvPr/>
            </p:nvSpPr>
            <p:spPr>
              <a:xfrm>
                <a:off x="361950" y="0"/>
                <a:ext cx="3257700" cy="8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4343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Architecture &amp; Safety Defense:</a:t>
                </a:r>
                <a:r>
                  <a:rPr b="0" lang="en" sz="1050">
                    <a:solidFill>
                      <a:srgbClr val="666666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 Technical diagram proving strict deterministic dosing separation, hallucination elimination, and dual-key sign-off (5-min presentation + 3-min defense).</a:t>
                </a:r>
                <a:endParaRPr b="0" sz="105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cxnSp>
          <p:nvCxnSpPr>
            <p:cNvPr id="227" name="Google Shape;227;p18"/>
            <p:cNvCxnSpPr/>
            <p:nvPr/>
          </p:nvCxnSpPr>
          <p:spPr>
            <a:xfrm>
              <a:off x="190500" y="2247900"/>
              <a:ext cx="3619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28" name="Google Shape;228;p18"/>
            <p:cNvGrpSpPr/>
            <p:nvPr/>
          </p:nvGrpSpPr>
          <p:grpSpPr>
            <a:xfrm>
              <a:off x="190500" y="2324100"/>
              <a:ext cx="3619650" cy="666900"/>
              <a:chOff x="0" y="0"/>
              <a:chExt cx="3619650" cy="666900"/>
            </a:xfrm>
          </p:grpSpPr>
          <p:sp>
            <p:nvSpPr>
              <p:cNvPr id="229" name="Google Shape;229;p18"/>
              <p:cNvSpPr/>
              <p:nvPr/>
            </p:nvSpPr>
            <p:spPr>
              <a:xfrm>
                <a:off x="0" y="0"/>
                <a:ext cx="266700" cy="26670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8"/>
              <p:cNvSpPr txBox="1"/>
              <p:nvPr/>
            </p:nvSpPr>
            <p:spPr>
              <a:xfrm>
                <a:off x="0" y="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3</a:t>
                </a:r>
                <a:endParaRPr b="1" sz="11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231" name="Google Shape;231;p18"/>
              <p:cNvSpPr txBox="1"/>
              <p:nvPr/>
            </p:nvSpPr>
            <p:spPr>
              <a:xfrm>
                <a:off x="361950" y="0"/>
                <a:ext cx="3257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4343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Open Codebase &amp; Test Suite:</a:t>
                </a:r>
                <a:r>
                  <a:rPr b="0" lang="en" sz="1050">
                    <a:solidFill>
                      <a:srgbClr val="666666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 Documented GitHub repository with synthetic test cases covering high-risk multi-agent chemotherapies.</a:t>
                </a:r>
                <a:endParaRPr b="0" sz="105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</p:grpSp>
      <p:grpSp>
        <p:nvGrpSpPr>
          <p:cNvPr id="232" name="Google Shape;232;p18"/>
          <p:cNvGrpSpPr/>
          <p:nvPr/>
        </p:nvGrpSpPr>
        <p:grpSpPr>
          <a:xfrm>
            <a:off x="4686300" y="1123950"/>
            <a:ext cx="4000500" cy="3105300"/>
            <a:chOff x="0" y="0"/>
            <a:chExt cx="4000500" cy="3105300"/>
          </a:xfrm>
        </p:grpSpPr>
        <p:sp>
          <p:nvSpPr>
            <p:cNvPr id="233" name="Google Shape;233;p18"/>
            <p:cNvSpPr/>
            <p:nvPr/>
          </p:nvSpPr>
          <p:spPr>
            <a:xfrm>
              <a:off x="0" y="0"/>
              <a:ext cx="4000500" cy="3105300"/>
            </a:xfrm>
            <a:prstGeom prst="roundRect">
              <a:avLst>
                <a:gd fmla="val 3680" name="adj"/>
              </a:avLst>
            </a:prstGeom>
            <a:solidFill>
              <a:srgbClr val="F1F1F1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 txBox="1"/>
            <p:nvPr/>
          </p:nvSpPr>
          <p:spPr>
            <a:xfrm>
              <a:off x="190500" y="152400"/>
              <a:ext cx="3619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43434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Safety-Weighted Scorecard</a:t>
              </a:r>
              <a:endParaRPr b="0" sz="1400">
                <a:solidFill>
                  <a:srgbClr val="43434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grpSp>
          <p:nvGrpSpPr>
            <p:cNvPr id="235" name="Google Shape;235;p18"/>
            <p:cNvGrpSpPr/>
            <p:nvPr/>
          </p:nvGrpSpPr>
          <p:grpSpPr>
            <a:xfrm>
              <a:off x="190500" y="457200"/>
              <a:ext cx="3619650" cy="571500"/>
              <a:chOff x="0" y="0"/>
              <a:chExt cx="3619650" cy="571500"/>
            </a:xfrm>
          </p:grpSpPr>
          <p:sp>
            <p:nvSpPr>
              <p:cNvPr id="236" name="Google Shape;236;p18"/>
              <p:cNvSpPr/>
              <p:nvPr/>
            </p:nvSpPr>
            <p:spPr>
              <a:xfrm>
                <a:off x="0" y="0"/>
                <a:ext cx="4953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A6081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8"/>
              <p:cNvSpPr txBox="1"/>
              <p:nvPr/>
            </p:nvSpPr>
            <p:spPr>
              <a:xfrm>
                <a:off x="0" y="0"/>
                <a:ext cx="495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35%</a:t>
                </a:r>
                <a:endParaRPr b="1" sz="11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238" name="Google Shape;238;p18"/>
              <p:cNvSpPr txBox="1"/>
              <p:nvPr/>
            </p:nvSpPr>
            <p:spPr>
              <a:xfrm>
                <a:off x="590550" y="0"/>
                <a:ext cx="30291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A60812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Clinical Safety &amp; Dosing Accuracy:</a:t>
                </a:r>
                <a:r>
                  <a:rPr b="0" lang="en" sz="1050">
                    <a:solidFill>
                      <a:srgbClr val="666666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 Strict hospital protocol fidelity, zero dosage hallucinations, active DDI red alerts.</a:t>
                </a:r>
                <a:endParaRPr b="0" sz="105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grpSp>
          <p:nvGrpSpPr>
            <p:cNvPr id="239" name="Google Shape;239;p18"/>
            <p:cNvGrpSpPr/>
            <p:nvPr/>
          </p:nvGrpSpPr>
          <p:grpSpPr>
            <a:xfrm>
              <a:off x="190500" y="1085850"/>
              <a:ext cx="3619650" cy="571500"/>
              <a:chOff x="0" y="0"/>
              <a:chExt cx="3619650" cy="571500"/>
            </a:xfrm>
          </p:grpSpPr>
          <p:sp>
            <p:nvSpPr>
              <p:cNvPr id="240" name="Google Shape;240;p18"/>
              <p:cNvSpPr/>
              <p:nvPr/>
            </p:nvSpPr>
            <p:spPr>
              <a:xfrm>
                <a:off x="0" y="0"/>
                <a:ext cx="4953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8"/>
              <p:cNvSpPr txBox="1"/>
              <p:nvPr/>
            </p:nvSpPr>
            <p:spPr>
              <a:xfrm>
                <a:off x="0" y="0"/>
                <a:ext cx="495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25%</a:t>
                </a:r>
                <a:endParaRPr b="1" sz="11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242" name="Google Shape;242;p18"/>
              <p:cNvSpPr txBox="1"/>
              <p:nvPr/>
            </p:nvSpPr>
            <p:spPr>
              <a:xfrm>
                <a:off x="590550" y="0"/>
                <a:ext cx="30291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1A73E8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Neuro-Symbolic Architecture:</a:t>
                </a:r>
                <a:r>
                  <a:rPr b="0" lang="en" sz="1050">
                    <a:solidFill>
                      <a:srgbClr val="666666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 Deterministic core separation, autonomous tool calling, missing input resolution.</a:t>
                </a:r>
                <a:endParaRPr b="0" sz="105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grpSp>
          <p:nvGrpSpPr>
            <p:cNvPr id="243" name="Google Shape;243;p18"/>
            <p:cNvGrpSpPr/>
            <p:nvPr/>
          </p:nvGrpSpPr>
          <p:grpSpPr>
            <a:xfrm>
              <a:off x="190500" y="1714500"/>
              <a:ext cx="3619650" cy="571500"/>
              <a:chOff x="0" y="0"/>
              <a:chExt cx="3619650" cy="571500"/>
            </a:xfrm>
          </p:grpSpPr>
          <p:sp>
            <p:nvSpPr>
              <p:cNvPr id="244" name="Google Shape;244;p18"/>
              <p:cNvSpPr/>
              <p:nvPr/>
            </p:nvSpPr>
            <p:spPr>
              <a:xfrm>
                <a:off x="0" y="0"/>
                <a:ext cx="4953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B06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8"/>
              <p:cNvSpPr txBox="1"/>
              <p:nvPr/>
            </p:nvSpPr>
            <p:spPr>
              <a:xfrm>
                <a:off x="0" y="0"/>
                <a:ext cx="495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20%</a:t>
                </a:r>
                <a:endParaRPr b="1" sz="11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246" name="Google Shape;246;p18"/>
              <p:cNvSpPr txBox="1"/>
              <p:nvPr/>
            </p:nvSpPr>
            <p:spPr>
              <a:xfrm>
                <a:off x="590550" y="0"/>
                <a:ext cx="30291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B06000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Anti-Automation-Bias UX:</a:t>
                </a:r>
                <a:r>
                  <a:rPr b="0" lang="en" sz="1050">
                    <a:solidFill>
                      <a:srgbClr val="666666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 Frictionful verification, clear high-contrast warnings, dual-key sign-off workflow.</a:t>
                </a:r>
                <a:endParaRPr b="0" sz="105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grpSp>
          <p:nvGrpSpPr>
            <p:cNvPr id="247" name="Google Shape;247;p18"/>
            <p:cNvGrpSpPr/>
            <p:nvPr/>
          </p:nvGrpSpPr>
          <p:grpSpPr>
            <a:xfrm>
              <a:off x="190500" y="2343150"/>
              <a:ext cx="3619650" cy="571500"/>
              <a:chOff x="0" y="0"/>
              <a:chExt cx="3619650" cy="571500"/>
            </a:xfrm>
          </p:grpSpPr>
          <p:sp>
            <p:nvSpPr>
              <p:cNvPr id="248" name="Google Shape;248;p18"/>
              <p:cNvSpPr/>
              <p:nvPr/>
            </p:nvSpPr>
            <p:spPr>
              <a:xfrm>
                <a:off x="0" y="0"/>
                <a:ext cx="4953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13733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8"/>
              <p:cNvSpPr txBox="1"/>
              <p:nvPr/>
            </p:nvSpPr>
            <p:spPr>
              <a:xfrm>
                <a:off x="0" y="0"/>
                <a:ext cx="495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20%</a:t>
                </a:r>
                <a:endParaRPr b="1" sz="1100">
                  <a:solidFill>
                    <a:srgbClr val="FFFFFF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250" name="Google Shape;250;p18"/>
              <p:cNvSpPr txBox="1"/>
              <p:nvPr/>
            </p:nvSpPr>
            <p:spPr>
              <a:xfrm>
                <a:off x="590550" y="0"/>
                <a:ext cx="30291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13733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Belgian Hospital &amp; Regulatory Fit:</a:t>
                </a:r>
                <a:r>
                  <a:rPr b="0" lang="en" sz="1050">
                    <a:solidFill>
                      <a:srgbClr val="666666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 BCFI formulary mapping, local oncology workflow, pharmacy conversion rules.</a:t>
                </a:r>
                <a:endParaRPr b="0" sz="1050">
                  <a:solidFill>
                    <a:srgbClr val="666666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</p:grpSp>
      <p:grpSp>
        <p:nvGrpSpPr>
          <p:cNvPr id="251" name="Google Shape;251;p18"/>
          <p:cNvGrpSpPr/>
          <p:nvPr/>
        </p:nvGrpSpPr>
        <p:grpSpPr>
          <a:xfrm>
            <a:off x="452438" y="4357688"/>
            <a:ext cx="8239200" cy="523800"/>
            <a:chOff x="-4762" y="-4762"/>
            <a:chExt cx="8239200" cy="523800"/>
          </a:xfrm>
        </p:grpSpPr>
        <p:pic>
          <p:nvPicPr>
            <p:cNvPr id="252" name="Google Shape;252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4762" y="-4762"/>
              <a:ext cx="8239200" cy="523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3" name="Google Shape;253;p18"/>
            <p:cNvGrpSpPr/>
            <p:nvPr/>
          </p:nvGrpSpPr>
          <p:grpSpPr>
            <a:xfrm>
              <a:off x="190500" y="142875"/>
              <a:ext cx="228600" cy="228600"/>
              <a:chOff x="0" y="0"/>
              <a:chExt cx="228600" cy="228600"/>
            </a:xfrm>
          </p:grpSpPr>
          <p:sp>
            <p:nvSpPr>
              <p:cNvPr id="254" name="Google Shape;254;p18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E6F4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8"/>
              <p:cNvSpPr/>
              <p:nvPr/>
            </p:nvSpPr>
            <p:spPr>
              <a:xfrm>
                <a:off x="66675" y="76200"/>
                <a:ext cx="954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71"/>
                    </a:moveTo>
                    <a:lnTo>
                      <a:pt x="36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137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6" name="Google Shape;256;p18"/>
            <p:cNvSpPr txBox="1"/>
            <p:nvPr/>
          </p:nvSpPr>
          <p:spPr>
            <a:xfrm>
              <a:off x="514350" y="95250"/>
              <a:ext cx="75249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3733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Winner Selection:</a:t>
              </a:r>
              <a:r>
                <a:rPr b="0" lang="en" sz="1050">
                  <a:solidFill>
                    <a:srgbClr val="137333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 Patient safety and clinical decision reliability take absolute precedence over purely decorative UI features.</a:t>
              </a:r>
              <a:endParaRPr b="0" sz="1050">
                <a:solidFill>
                  <a:srgbClr val="13733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